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p:spPr>
      </p:sp>
      <p:sp>
        <p:nvSpPr>
          <p:cNvPr id="5" name="Text 2"/>
          <p:cNvSpPr/>
          <p:nvPr/>
        </p:nvSpPr>
        <p:spPr>
          <a:xfrm>
            <a:off x="2286000" y="6355080"/>
            <a:ext cx="7619695" cy="502920"/>
          </a:xfrm>
          <a:prstGeom prst="rect">
            <a:avLst/>
          </a:prstGeom>
          <a:noFill/>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p:nvPr>
            <p:ph type="title" idx="108" hasCustomPrompt="1"/>
          </p:nvPr>
        </p:nvSpPr>
        <p:spPr>
          <a:xfrm>
            <a:off x="3246120" y="320040"/>
            <a:ext cx="7498080" cy="822960"/>
          </a:xfrm>
          <a:prstGeom prst="rect">
            <a:avLst/>
          </a:prstGeom>
          <a:noFill/>
        </p:spPr>
        <p:txBody>
          <a:bodyPr wrap="square" rtlCol="0"/>
          <a:lstStyle>
            <a:lvl1pPr marL="0" indent="0" algn="ctr">
              <a:buNone/>
              <a:def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p:spPr>
      </p:sp>
      <p:sp>
        <p:nvSpPr>
          <p:cNvPr id="6" name="Cover Hexagon"/>
          <p:cNvSpPr/>
          <p:nvPr/>
        </p:nvSpPr>
        <p:spPr>
          <a:xfrm rot="5400000">
            <a:off x="10849583" y="1728216"/>
            <a:ext cx="337874" cy="292608"/>
          </a:xfrm>
          <a:prstGeom prst="hexagon">
            <a:avLst/>
          </a:prstGeom>
          <a:solidFill>
            <a:schemeClr val="accent3">
              <a:alpha val="70000"/>
            </a:schemeClr>
          </a:solidFill>
        </p:spPr>
      </p:sp>
      <p:sp>
        <p:nvSpPr>
          <p:cNvPr id="7" name="Cover Hexagon"/>
          <p:cNvSpPr/>
          <p:nvPr/>
        </p:nvSpPr>
        <p:spPr>
          <a:xfrm rot="5400000">
            <a:off x="6868728" y="1440180"/>
            <a:ext cx="4276224" cy="3703320"/>
          </a:xfrm>
          <a:prstGeom prst="hexagon">
            <a:avLst/>
          </a:prstGeom>
          <a:solidFill>
            <a:schemeClr val="accent1">
              <a:alpha val="45000"/>
            </a:schemeClr>
          </a:solidFill>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1"/>
          <a:stretch>
            <a:fillRect/>
          </a:stretch>
        </p:blipFill>
        <p:spPr>
          <a:xfrm>
            <a:off x="8110766" y="2125980"/>
            <a:ext cx="1792148" cy="2331720"/>
          </a:xfrm>
          <a:prstGeom prst="rect">
            <a:avLst/>
          </a:prstGeom>
        </p:spPr>
      </p:pic>
      <p:sp>
        <p:nvSpPr>
          <p:cNvPr id="12" name="Event Title"/>
          <p:cNvSpPr txBox="1"/>
          <p:nvPr/>
        </p:nvSpPr>
        <p:spPr>
          <a:xfrm>
            <a:off x="292735" y="368935"/>
            <a:ext cx="5669280" cy="1600200"/>
          </a:xfrm>
          <a:prstGeom prst="rect">
            <a:avLst/>
          </a:prstGeom>
          <a:noFill/>
        </p:spPr>
        <p:txBody>
          <a:bodyPr wrap="square" lIns="0" tIns="0" rIns="0" bIns="0" rtlCol="0" anchor="t"/>
          <a:lstStyle/>
          <a:p>
            <a:pPr marL="0" indent="0">
              <a:lnSpc>
                <a:spcPct val="90000"/>
              </a:lnSpc>
              <a:buNone/>
            </a:pPr>
            <a:r>
              <a:rPr lang="en-US" sz="5400" b="1" kern="0" spc="200" dirty="0">
                <a:solidFill>
                  <a:schemeClr val="bg1"/>
                </a:solidFill>
                <a:latin typeface="Cambria" panose="02040503050406030204" pitchFamily="34" charset="0"/>
                <a:ea typeface="Cambria" panose="02040503050406030204" pitchFamily="34" charset="-122"/>
                <a:cs typeface="Cambria" panose="02040503050406030204" pitchFamily="34" charset="-120"/>
              </a:rPr>
              <a:t>GENESIS</a:t>
            </a:r>
            <a:endParaRPr lang="en-US" sz="5400" dirty="0"/>
          </a:p>
          <a:p>
            <a:pPr marL="0" indent="0">
              <a:lnSpc>
                <a:spcPct val="90000"/>
              </a:lnSpc>
              <a:buNone/>
            </a:pPr>
            <a:r>
              <a:rPr lang="en-US" sz="5400" b="1" kern="0" spc="200" dirty="0">
                <a:solidFill>
                  <a:schemeClr val="accent3"/>
                </a:solidFill>
                <a:latin typeface="Cambria" panose="02040503050406030204" pitchFamily="34" charset="0"/>
                <a:ea typeface="Cambria" panose="02040503050406030204" pitchFamily="34" charset="-122"/>
                <a:cs typeface="Cambria" panose="02040503050406030204" pitchFamily="34" charset="-120"/>
              </a:rPr>
              <a:t>IDEATHON</a:t>
            </a:r>
            <a:endParaRPr lang="en-US" sz="5400" dirty="0"/>
          </a:p>
        </p:txBody>
      </p:sp>
      <p:sp>
        <p:nvSpPr>
          <p:cNvPr id="13" name="Section Chip"/>
          <p:cNvSpPr/>
          <p:nvPr/>
        </p:nvSpPr>
        <p:spPr>
          <a:xfrm>
            <a:off x="292735" y="1969135"/>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292735" y="2579370"/>
            <a:ext cx="6035040" cy="2560320"/>
          </a:xfrm>
          <a:prstGeom prst="rect">
            <a:avLst/>
          </a:prstGeom>
          <a:noFill/>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a:t>
            </a:r>
            <a:r>
              <a:rPr lang="en-US" sz="1800" dirty="0">
                <a:solidFill>
                  <a:srgbClr val="FFFF00"/>
                </a:solidFill>
              </a:rPr>
              <a:t>Team CKAV</a:t>
            </a:r>
            <a:endParaRPr lang="en-US" sz="1800" dirty="0">
              <a:solidFill>
                <a:srgbClr val="FFFF00"/>
              </a:solidFill>
            </a:endParaRPr>
          </a:p>
          <a:p>
            <a:pPr marL="279400" indent="-279400">
              <a:spcAft>
                <a:spcPts val="1400"/>
              </a:spcAft>
              <a:buClr>
                <a:schemeClr val="accent3"/>
              </a:buClr>
              <a:buSzPct val="100000"/>
              <a:buChar char="•"/>
            </a:pPr>
            <a:r>
              <a:rPr lang="en-US" sz="1800" dirty="0">
                <a:solidFill>
                  <a:schemeClr val="bg1"/>
                </a:solidFill>
              </a:rPr>
              <a:t>Team Members –</a:t>
            </a:r>
            <a:endParaRPr lang="en-US" sz="1800" dirty="0">
              <a:solidFill>
                <a:schemeClr val="bg1"/>
              </a:solidFill>
            </a:endParaRPr>
          </a:p>
          <a:p>
            <a:pPr marL="279400" indent="-279400">
              <a:spcAft>
                <a:spcPts val="1400"/>
              </a:spcAft>
              <a:buClr>
                <a:schemeClr val="accent3"/>
              </a:buClr>
              <a:buSzPct val="100000"/>
              <a:buChar char="•"/>
            </a:pPr>
            <a:r>
              <a:rPr lang="en-US" sz="1800" dirty="0">
                <a:solidFill>
                  <a:srgbClr val="FFFF00"/>
                </a:solidFill>
              </a:rPr>
              <a:t>Gundu Chandra Hasan - CB.EN.U4ECE26214</a:t>
            </a:r>
            <a:endParaRPr lang="en-US" sz="1800" dirty="0">
              <a:solidFill>
                <a:srgbClr val="FFFF00"/>
              </a:solidFill>
            </a:endParaRPr>
          </a:p>
          <a:p>
            <a:pPr marL="279400" indent="-279400">
              <a:spcAft>
                <a:spcPts val="1400"/>
              </a:spcAft>
              <a:buClr>
                <a:schemeClr val="accent3"/>
              </a:buClr>
              <a:buSzPct val="100000"/>
              <a:buChar char="•"/>
            </a:pPr>
            <a:r>
              <a:rPr lang="en-US" sz="1800" dirty="0">
                <a:solidFill>
                  <a:srgbClr val="FFFF00"/>
                </a:solidFill>
              </a:rPr>
              <a:t>Kalavapalli Karthik Reddy - CB.EN.U4ECE26227</a:t>
            </a:r>
            <a:endParaRPr lang="en-US" sz="1800" dirty="0">
              <a:solidFill>
                <a:srgbClr val="FFFF00"/>
              </a:solidFill>
            </a:endParaRPr>
          </a:p>
          <a:p>
            <a:pPr marL="279400" indent="-279400">
              <a:spcAft>
                <a:spcPts val="1400"/>
              </a:spcAft>
              <a:buClr>
                <a:schemeClr val="accent3"/>
              </a:buClr>
              <a:buSzPct val="100000"/>
              <a:buChar char="•"/>
            </a:pPr>
            <a:r>
              <a:rPr lang="en-US" sz="1800" dirty="0">
                <a:solidFill>
                  <a:srgbClr val="FFFF00"/>
                </a:solidFill>
              </a:rPr>
              <a:t>Kandukuri Varun - CB.EN.U4ECE26228</a:t>
            </a:r>
            <a:endParaRPr lang="en-US" sz="1800" dirty="0">
              <a:solidFill>
                <a:srgbClr val="FFFF00"/>
              </a:solidFill>
            </a:endParaRPr>
          </a:p>
          <a:p>
            <a:pPr marL="279400" indent="-279400">
              <a:spcAft>
                <a:spcPts val="1400"/>
              </a:spcAft>
              <a:buClr>
                <a:schemeClr val="accent3"/>
              </a:buClr>
              <a:buSzPct val="100000"/>
              <a:buChar char="•"/>
            </a:pPr>
            <a:r>
              <a:rPr lang="en-US" sz="1800" dirty="0">
                <a:solidFill>
                  <a:srgbClr val="FFFF00"/>
                </a:solidFill>
              </a:rPr>
              <a:t>Koneri Ankith - CB.EN.U4ECE26260</a:t>
            </a:r>
            <a:endParaRPr lang="en-US" sz="1800" dirty="0">
              <a:solidFill>
                <a:srgbClr val="FFFF00"/>
              </a:solidFill>
            </a:endParaRPr>
          </a:p>
          <a:p>
            <a:pPr marL="279400" indent="-279400">
              <a:spcAft>
                <a:spcPts val="1400"/>
              </a:spcAft>
              <a:buClr>
                <a:schemeClr val="accent3"/>
              </a:buClr>
              <a:buSzPct val="100000"/>
              <a:buChar char="•"/>
            </a:pPr>
            <a:r>
              <a:rPr lang="en-US" sz="1800" dirty="0">
                <a:solidFill>
                  <a:schemeClr val="bg1"/>
                </a:solidFill>
              </a:rPr>
              <a:t>Selected Domain – </a:t>
            </a:r>
            <a:r>
              <a:rPr lang="en-US" sz="1800" dirty="0">
                <a:solidFill>
                  <a:srgbClr val="FFFF00"/>
                </a:solidFill>
              </a:rPr>
              <a:t>Domain 5 : Food security , Agriculture &amp; Rural Transformation</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sz="1800" dirty="0">
                <a:solidFill>
                  <a:srgbClr val="FFFF00"/>
                </a:solidFill>
              </a:rPr>
              <a:t> Post harvest grain losses due to undetected spoilage and pest infestation during storage</a:t>
            </a:r>
            <a:endParaRPr lang="en-US" sz="1800"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2611120" y="36576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600" b="1" dirty="0">
                <a:solidFill>
                  <a:schemeClr val="accent2"/>
                </a:solidFill>
              </a:rPr>
              <a:t>Team CKAV</a:t>
            </a:r>
            <a:endParaRPr lang="en-US" sz="1600" b="1" dirty="0">
              <a:solidFill>
                <a:schemeClr val="accent2"/>
              </a:solidFill>
            </a:endParaRPr>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endParaRPr lang="en-US" sz="1800" dirty="0">
              <a:solidFill>
                <a:schemeClr val="tx1"/>
              </a:solidFill>
            </a:endParaRPr>
          </a:p>
          <a:p>
            <a:pPr marL="279400" indent="-279400">
              <a:spcAft>
                <a:spcPts val="1000"/>
              </a:spcAft>
              <a:buClr>
                <a:schemeClr val="accent1"/>
              </a:buClr>
              <a:buSzPct val="100000"/>
              <a:buChar char="•"/>
            </a:pPr>
            <a:r>
              <a:rPr lang="en-US" altLang="en-US" sz="1800" dirty="0">
                <a:solidFill>
                  <a:schemeClr val="tx1"/>
                </a:solidFill>
              </a:rPr>
              <a:t>One of the biggest challenges faced in the agricultural industries during grain storage after harvesting is grain getting wet, being attacked by pests and suffering from local decays.</a:t>
            </a:r>
            <a:endParaRPr lang="en-US" altLang="en-US" sz="1800" dirty="0">
              <a:solidFill>
                <a:schemeClr val="tx1"/>
              </a:solidFill>
            </a:endParaRPr>
          </a:p>
          <a:p>
            <a:pPr marL="279400" indent="-279400">
              <a:spcAft>
                <a:spcPts val="1000"/>
              </a:spcAft>
              <a:buClr>
                <a:schemeClr val="accent1"/>
              </a:buClr>
              <a:buSzPct val="100000"/>
              <a:buChar char="•"/>
            </a:pPr>
            <a:r>
              <a:rPr lang="en-US" altLang="en-US" sz="1800" dirty="0">
                <a:solidFill>
                  <a:schemeClr val="tx1"/>
                </a:solidFill>
              </a:rPr>
              <a:t>Unfortunately, the root cause of these types of problems is often identified too late as there is significant damages already done. Therefore the issue we need to address should be how can we identify the problem of such nature with regard to stored grain early on, so that there are no preventable losses anymore.</a:t>
            </a:r>
            <a:endParaRPr lang="en-US" altLang="en-US" sz="1800" dirty="0">
              <a:solidFill>
                <a:schemeClr val="tx1"/>
              </a:solidFill>
            </a:endParaRPr>
          </a:p>
          <a:p>
            <a:pPr marL="279400" indent="-279400">
              <a:spcAft>
                <a:spcPts val="1000"/>
              </a:spcAft>
              <a:buClr>
                <a:schemeClr val="accent1"/>
              </a:buClr>
              <a:buSzPct val="100000"/>
              <a:buChar char="•"/>
            </a:pPr>
            <a:r>
              <a:rPr lang="en-US" sz="1800" dirty="0">
                <a:solidFill>
                  <a:schemeClr val="tx1"/>
                </a:solidFill>
              </a:rPr>
              <a:t>Why is it important right now?</a:t>
            </a:r>
            <a:endParaRPr lang="en-US" sz="1800" dirty="0">
              <a:solidFill>
                <a:schemeClr val="tx1"/>
              </a:solidFill>
            </a:endParaRPr>
          </a:p>
          <a:p>
            <a:pPr marL="279400" indent="-279400">
              <a:spcAft>
                <a:spcPts val="1000"/>
              </a:spcAft>
              <a:buClr>
                <a:schemeClr val="accent1"/>
              </a:buClr>
              <a:buSzPct val="100000"/>
              <a:buChar char="•"/>
            </a:pPr>
            <a:r>
              <a:rPr lang="en-US" altLang="en-US" sz="1800" dirty="0">
                <a:solidFill>
                  <a:schemeClr val="tx1"/>
                </a:solidFill>
              </a:rPr>
              <a:t>In order for us to achieve food security, we need to minimize losses after harvesting so as to preserve the income of farmers and utilize our harvested foods properly.</a:t>
            </a:r>
            <a:endParaRPr lang="en-US" alt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
        <p:nvSpPr>
          <p:cNvPr id="11" name="Text Box 10"/>
          <p:cNvSpPr txBox="1"/>
          <p:nvPr/>
        </p:nvSpPr>
        <p:spPr>
          <a:xfrm>
            <a:off x="5967095" y="6506845"/>
            <a:ext cx="5151120" cy="299085"/>
          </a:xfrm>
          <a:prstGeom prst="rect">
            <a:avLst/>
          </a:prstGeom>
          <a:noFill/>
        </p:spPr>
        <p:txBody>
          <a:bodyPr wrap="square" rtlCol="0">
            <a:noAutofit/>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altLang="en-US" sz="1800" dirty="0"/>
              <a:t>Primary Users / Target Group:   Small-to-medium scale farmers with their own storage , Warehouse and Cold-storage managers</a:t>
            </a:r>
            <a:endParaRPr lang="en-US" altLang="en-US" sz="1800" dirty="0"/>
          </a:p>
          <a:p>
            <a:pPr marL="279400" indent="-279400">
              <a:spcAft>
                <a:spcPts val="1000"/>
              </a:spcAft>
              <a:buClr>
                <a:schemeClr val="accent1"/>
              </a:buClr>
              <a:buSzPct val="100000"/>
              <a:buChar char="•"/>
            </a:pPr>
            <a:r>
              <a:rPr lang="en-US" altLang="en-US" sz="1800" dirty="0"/>
              <a:t>Secondary Stakeholders: Agricultural cooperatives and Grain traders , Government food security organizations (Food Corporation of India)</a:t>
            </a:r>
            <a:endParaRPr lang="en-US" altLang="en-US" sz="1800" dirty="0"/>
          </a:p>
          <a:p>
            <a:pPr marL="279400" indent="-279400">
              <a:spcAft>
                <a:spcPts val="1000"/>
              </a:spcAft>
              <a:buClr>
                <a:schemeClr val="accent1"/>
              </a:buClr>
              <a:buSzPct val="100000"/>
              <a:buChar char="•"/>
            </a:pPr>
            <a:r>
              <a:rPr lang="en-US" altLang="en-US" sz="1800" dirty="0"/>
              <a:t>What are the advantages when the problem has been solved?</a:t>
            </a:r>
            <a:endParaRPr lang="en-US" altLang="en-US" sz="1800" dirty="0"/>
          </a:p>
          <a:p>
            <a:pPr indent="0">
              <a:spcAft>
                <a:spcPts val="1000"/>
              </a:spcAft>
              <a:buClr>
                <a:schemeClr val="accent1"/>
              </a:buClr>
              <a:buSzPct val="100000"/>
              <a:buNone/>
            </a:pPr>
            <a:r>
              <a:rPr lang="en-US" altLang="en-US" sz="1800" dirty="0"/>
              <a:t>Farmers: Directly raises farmers' income by decreasing wastage</a:t>
            </a:r>
            <a:endParaRPr lang="en-US" altLang="en-US" sz="1800" dirty="0"/>
          </a:p>
          <a:p>
            <a:pPr indent="0">
              <a:spcAft>
                <a:spcPts val="1000"/>
              </a:spcAft>
              <a:buClr>
                <a:schemeClr val="accent1"/>
              </a:buClr>
              <a:buSzPct val="100000"/>
              <a:buNone/>
            </a:pPr>
            <a:r>
              <a:rPr lang="en-US" altLang="en-US" sz="1800" dirty="0"/>
              <a:t>Consumers: Price stability and better quality grains</a:t>
            </a:r>
            <a:endParaRPr lang="en-US" altLang="en-US" sz="1800" dirty="0"/>
          </a:p>
          <a:p>
            <a:pPr indent="0">
              <a:spcAft>
                <a:spcPts val="1000"/>
              </a:spcAft>
              <a:buClr>
                <a:schemeClr val="accent1"/>
              </a:buClr>
              <a:buSzPct val="100000"/>
              <a:buNone/>
            </a:pPr>
            <a:r>
              <a:rPr lang="en-US" altLang="en-US" sz="1800" dirty="0"/>
              <a:t>National Economy: Less food wastage, improved state of national food security.</a:t>
            </a:r>
            <a:endParaRPr lang="en-US" altLang="en-US" sz="1800" dirty="0"/>
          </a:p>
          <a:p>
            <a:pPr marL="279400" indent="-279400">
              <a:spcAft>
                <a:spcPts val="1000"/>
              </a:spcAft>
              <a:buClr>
                <a:schemeClr val="accent1"/>
              </a:buClr>
              <a:buSzPct val="100000"/>
              <a:buChar char="•"/>
            </a:pPr>
            <a:endParaRPr lang="en-US" alt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257935"/>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325905"/>
            <a:ext cx="274320" cy="274320"/>
          </a:xfrm>
          <a:prstGeom prst="rect">
            <a:avLst/>
          </a:prstGeom>
        </p:spPr>
      </p:pic>
      <p:sp>
        <p:nvSpPr>
          <p:cNvPr id="9" name="Lead Text"/>
          <p:cNvSpPr txBox="1"/>
          <p:nvPr/>
        </p:nvSpPr>
        <p:spPr>
          <a:xfrm>
            <a:off x="1234567" y="121158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35025" y="1654175"/>
            <a:ext cx="10424160" cy="16459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altLang="en-US" sz="1800" dirty="0"/>
              <a:t>Existing scenario and background:</a:t>
            </a:r>
            <a:endParaRPr lang="en-US" altLang="en-US" sz="1800" dirty="0"/>
          </a:p>
          <a:p>
            <a:pPr indent="0">
              <a:spcAft>
                <a:spcPts val="1000"/>
              </a:spcAft>
              <a:buClr>
                <a:schemeClr val="accent1"/>
              </a:buClr>
              <a:buSzPct val="100000"/>
              <a:buNone/>
            </a:pPr>
            <a:r>
              <a:rPr lang="en-US" altLang="en-US" sz="1800" dirty="0"/>
              <a:t>The wheat is put in silos or warehouses and the temperature and moisture are checked at regular intervals manually.</a:t>
            </a:r>
            <a:endParaRPr lang="en-US" altLang="en-US" sz="1800" dirty="0"/>
          </a:p>
          <a:p>
            <a:pPr indent="0">
              <a:spcAft>
                <a:spcPts val="1000"/>
              </a:spcAft>
              <a:buClr>
                <a:schemeClr val="accent1"/>
              </a:buClr>
              <a:buSzPct val="100000"/>
              <a:buNone/>
            </a:pPr>
            <a:r>
              <a:rPr lang="en-US" altLang="en-US" sz="1800" dirty="0"/>
              <a:t>The deterioration is usually noticed through visual means, such as change of color, or smelly or clumpy.</a:t>
            </a:r>
            <a:endParaRPr lang="en-US" altLang="en-US" sz="1800" dirty="0"/>
          </a:p>
          <a:p>
            <a:pPr marL="279400" indent="-279400">
              <a:spcAft>
                <a:spcPts val="1000"/>
              </a:spcAft>
              <a:buClr>
                <a:schemeClr val="accent1"/>
              </a:buClr>
              <a:buSzPct val="100000"/>
              <a:buChar char="•"/>
            </a:pPr>
            <a:r>
              <a:rPr lang="en-US" altLang="en-US" sz="1800" dirty="0"/>
              <a:t>Relevant data or facts: </a:t>
            </a:r>
            <a:endParaRPr lang="en-US" altLang="en-US" sz="1800" dirty="0"/>
          </a:p>
          <a:p>
            <a:pPr indent="0">
              <a:spcAft>
                <a:spcPts val="1000"/>
              </a:spcAft>
              <a:buClr>
                <a:schemeClr val="accent1"/>
              </a:buClr>
              <a:buSzPct val="100000"/>
              <a:buNone/>
            </a:pPr>
            <a:r>
              <a:rPr lang="en-US" altLang="en-US" sz="1800" dirty="0"/>
              <a:t>30% of harvests in developing countries are lost because of poor storage</a:t>
            </a:r>
            <a:endParaRPr lang="en-US" altLang="en-US" sz="1800" dirty="0"/>
          </a:p>
          <a:p>
            <a:pPr indent="0">
              <a:spcAft>
                <a:spcPts val="1000"/>
              </a:spcAft>
              <a:buClr>
                <a:schemeClr val="accent1"/>
              </a:buClr>
              <a:buSzPct val="100000"/>
              <a:buNone/>
            </a:pPr>
            <a:r>
              <a:rPr lang="en-US" altLang="en-US" sz="1800" dirty="0"/>
              <a:t>Checking manually you could be overlooking of some localised "hot spots" of spoilage within a large grain batch.</a:t>
            </a:r>
            <a:endParaRPr lang="en-US" altLang="en-US" sz="1800" dirty="0"/>
          </a:p>
          <a:p>
            <a:pPr marL="279400" indent="-279400">
              <a:spcAft>
                <a:spcPts val="1000"/>
              </a:spcAft>
              <a:buClr>
                <a:schemeClr val="accent1"/>
              </a:buClr>
              <a:buSzPct val="100000"/>
              <a:buChar char="•"/>
            </a:pPr>
            <a:r>
              <a:rPr lang="en-US" altLang="en-US" sz="1800" dirty="0"/>
              <a:t>Current workflow, step by step:</a:t>
            </a:r>
            <a:endParaRPr lang="en-US" altLang="en-US" sz="1800" dirty="0"/>
          </a:p>
          <a:p>
            <a:pPr indent="0">
              <a:spcAft>
                <a:spcPts val="1000"/>
              </a:spcAft>
              <a:buClr>
                <a:schemeClr val="accent1"/>
              </a:buClr>
              <a:buSzPct val="100000"/>
              <a:buNone/>
            </a:pPr>
            <a:r>
              <a:rPr lang="en-US" altLang="en-US" sz="1800" dirty="0"/>
              <a:t>1. The process of harvesting and getting the crops to storage</a:t>
            </a:r>
            <a:endParaRPr lang="en-US" altLang="en-US" sz="1800" dirty="0"/>
          </a:p>
          <a:p>
            <a:pPr indent="0">
              <a:spcAft>
                <a:spcPts val="1000"/>
              </a:spcAft>
              <a:buClr>
                <a:schemeClr val="accent1"/>
              </a:buClr>
              <a:buSzPct val="100000"/>
              <a:buNone/>
            </a:pPr>
            <a:r>
              <a:rPr lang="en-US" altLang="en-US" sz="1800" dirty="0"/>
              <a:t>Feel the temperature and moisture from time to time.</a:t>
            </a:r>
            <a:endParaRPr lang="en-US" altLang="en-US" sz="1800" dirty="0"/>
          </a:p>
          <a:p>
            <a:pPr indent="0">
              <a:spcAft>
                <a:spcPts val="1000"/>
              </a:spcAft>
              <a:buClr>
                <a:schemeClr val="accent1"/>
              </a:buClr>
              <a:buSzPct val="100000"/>
              <a:buNone/>
            </a:pPr>
            <a:r>
              <a:rPr lang="en-US" altLang="en-US" sz="1800" dirty="0"/>
              <a:t>3. You can only identify spoilage after significant damage has already occurred.</a:t>
            </a:r>
            <a:endParaRPr lang="en-US" altLang="en-US" sz="1800" dirty="0"/>
          </a:p>
          <a:p>
            <a:pPr indent="0">
              <a:spcAft>
                <a:spcPts val="1000"/>
              </a:spcAft>
              <a:buClr>
                <a:schemeClr val="accent1"/>
              </a:buClr>
              <a:buSzPct val="100000"/>
              <a:buNone/>
            </a:pPr>
            <a:r>
              <a:rPr lang="en-US" altLang="en-US" sz="1800" dirty="0"/>
              <a:t>4. Destroying the infected grain has a cost.</a:t>
            </a:r>
            <a:endParaRPr lang="en-US" altLang="en-US" sz="1800" dirty="0"/>
          </a:p>
          <a:p>
            <a:pPr marL="279400" indent="-279400">
              <a:spcAft>
                <a:spcPts val="1000"/>
              </a:spcAft>
              <a:buClr>
                <a:schemeClr val="accent1"/>
              </a:buClr>
              <a:buSzPct val="100000"/>
              <a:buChar char="•"/>
            </a:pPr>
            <a:endParaRPr lang="en-US" alt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209675"/>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270025"/>
            <a:ext cx="274320" cy="274320"/>
          </a:xfrm>
          <a:prstGeom prst="rect">
            <a:avLst/>
          </a:prstGeom>
        </p:spPr>
      </p:pic>
      <p:sp>
        <p:nvSpPr>
          <p:cNvPr id="9" name="Lead Text"/>
          <p:cNvSpPr txBox="1"/>
          <p:nvPr/>
        </p:nvSpPr>
        <p:spPr>
          <a:xfrm>
            <a:off x="1170432" y="1163955"/>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1544320"/>
            <a:ext cx="10424160" cy="16459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altLang="en-US" sz="1800" dirty="0"/>
              <a:t>Main difficulties and bottlenecks:</a:t>
            </a:r>
            <a:endParaRPr lang="en-US" altLang="en-US" sz="1800" dirty="0"/>
          </a:p>
          <a:p>
            <a:pPr indent="0">
              <a:spcAft>
                <a:spcPts val="1000"/>
              </a:spcAft>
              <a:buClr>
                <a:schemeClr val="accent1"/>
              </a:buClr>
              <a:buSzPct val="100000"/>
              <a:buNone/>
            </a:pPr>
            <a:r>
              <a:rPr lang="en-US" altLang="en-US" sz="1800" dirty="0"/>
              <a:t>Detection Lag: Since a large volume of grain is covering up the smaller hotspots, the threat of internal rot is not seen until an individual visually inspects the grain.</a:t>
            </a:r>
            <a:endParaRPr lang="en-US" altLang="en-US" sz="1800" dirty="0"/>
          </a:p>
          <a:p>
            <a:pPr indent="0">
              <a:spcAft>
                <a:spcPts val="1000"/>
              </a:spcAft>
              <a:buClr>
                <a:schemeClr val="accent1"/>
              </a:buClr>
              <a:buSzPct val="100000"/>
              <a:buNone/>
            </a:pPr>
            <a:r>
              <a:rPr lang="en-US" altLang="en-US" sz="1800" dirty="0"/>
              <a:t>Environmental Changes: Humidity and temperature variation in storage rooms is the second possible sign of moisture which is open to interpretation because it could be a result of environmental effects or spoilage which is ongoing.</a:t>
            </a:r>
            <a:endParaRPr lang="en-US" altLang="en-US" sz="1800" dirty="0"/>
          </a:p>
          <a:p>
            <a:pPr marL="279400" indent="-279400">
              <a:spcAft>
                <a:spcPts val="1000"/>
              </a:spcAft>
              <a:buClr>
                <a:schemeClr val="accent1"/>
              </a:buClr>
              <a:buSzPct val="100000"/>
              <a:buChar char="•"/>
            </a:pPr>
            <a:r>
              <a:rPr lang="en-US" altLang="en-US" sz="1800" dirty="0"/>
              <a:t>Root causes behind them:</a:t>
            </a:r>
            <a:endParaRPr lang="en-US" altLang="en-US" sz="1800" dirty="0"/>
          </a:p>
          <a:p>
            <a:pPr indent="0">
              <a:spcAft>
                <a:spcPts val="1000"/>
              </a:spcAft>
              <a:buClr>
                <a:schemeClr val="accent1"/>
              </a:buClr>
              <a:buSzPct val="100000"/>
              <a:buNone/>
            </a:pPr>
            <a:r>
              <a:rPr lang="en-US" altLang="en-US" sz="1800" dirty="0"/>
              <a:t>Lack of distributed environmental sensing</a:t>
            </a:r>
            <a:endParaRPr lang="en-US" altLang="en-US" sz="1800" dirty="0"/>
          </a:p>
          <a:p>
            <a:pPr indent="0">
              <a:spcAft>
                <a:spcPts val="1000"/>
              </a:spcAft>
              <a:buClr>
                <a:schemeClr val="accent1"/>
              </a:buClr>
              <a:buSzPct val="100000"/>
              <a:buNone/>
            </a:pPr>
            <a:r>
              <a:rPr lang="en-US" altLang="en-US" sz="1800" dirty="0"/>
              <a:t>Dependence on human smell / manual inspection which is only possible when the rottenness is advanced.</a:t>
            </a:r>
            <a:endParaRPr lang="en-US" altLang="en-US" sz="1800" dirty="0"/>
          </a:p>
          <a:p>
            <a:pPr marL="279400" indent="-279400">
              <a:spcAft>
                <a:spcPts val="1000"/>
              </a:spcAft>
              <a:buClr>
                <a:schemeClr val="accent1"/>
              </a:buClr>
              <a:buSzPct val="100000"/>
              <a:buChar char="•"/>
            </a:pPr>
            <a:r>
              <a:rPr lang="en-US" altLang="en-US" sz="1800" dirty="0"/>
              <a:t>Consequences of leaving them unsolved:</a:t>
            </a:r>
            <a:endParaRPr lang="en-US" altLang="en-US" sz="1800" dirty="0"/>
          </a:p>
          <a:p>
            <a:pPr indent="0">
              <a:spcAft>
                <a:spcPts val="1000"/>
              </a:spcAft>
              <a:buClr>
                <a:schemeClr val="accent1"/>
              </a:buClr>
              <a:buSzPct val="100000"/>
              <a:buNone/>
            </a:pPr>
            <a:r>
              <a:rPr lang="en-US" altLang="en-US" sz="1800" dirty="0"/>
              <a:t>Economic Loss: Farmers are devastated which leads them further into debt</a:t>
            </a:r>
            <a:endParaRPr lang="en-US" altLang="en-US" sz="1800" dirty="0"/>
          </a:p>
          <a:p>
            <a:pPr indent="0">
              <a:spcAft>
                <a:spcPts val="1000"/>
              </a:spcAft>
              <a:buClr>
                <a:schemeClr val="accent1"/>
              </a:buClr>
              <a:buSzPct val="100000"/>
              <a:buNone/>
            </a:pPr>
            <a:r>
              <a:rPr lang="en-US" altLang="en-US" sz="1800" dirty="0"/>
              <a:t>Food Waste: Dozens of millions of tons of edible grain go to waste through lack of oversight</a:t>
            </a:r>
            <a:endParaRPr lang="en-US" altLang="en-US" sz="1800" dirty="0"/>
          </a:p>
          <a:p>
            <a:pPr indent="0">
              <a:spcAft>
                <a:spcPts val="1000"/>
              </a:spcAft>
              <a:buClr>
                <a:schemeClr val="accent1"/>
              </a:buClr>
              <a:buSzPct val="100000"/>
              <a:buNone/>
            </a:pPr>
            <a:r>
              <a:rPr lang="en-US" altLang="en-US" sz="1800" dirty="0"/>
              <a:t>There is a risk to health because a food may be contaminated by pests or toxins without it being obvious.</a:t>
            </a:r>
            <a:endParaRPr lang="en-US" altLang="en-US" sz="1800" dirty="0"/>
          </a:p>
          <a:p>
            <a:pPr marL="279400" indent="-279400">
              <a:spcAft>
                <a:spcPts val="1000"/>
              </a:spcAft>
              <a:buClr>
                <a:schemeClr val="accent1"/>
              </a:buClr>
              <a:buSzPct val="100000"/>
              <a:buChar char="•"/>
            </a:pPr>
            <a:endParaRPr lang="en-US" altLang="en-US" sz="1800" dirty="0"/>
          </a:p>
          <a:p>
            <a:pPr marL="279400" indent="-279400">
              <a:spcAft>
                <a:spcPts val="1000"/>
              </a:spcAft>
              <a:buClr>
                <a:schemeClr val="accent1"/>
              </a:buClr>
              <a:buSzPct val="100000"/>
              <a:buChar char="•"/>
            </a:pPr>
            <a:endParaRPr lang="en-US" altLang="en-US" sz="1800" dirty="0"/>
          </a:p>
        </p:txBody>
      </p:sp>
      <p:sp>
        <p:nvSpPr>
          <p:cNvPr id="25" name="Slide Number Placeholder 0"/>
          <p:cNvSpPr>
            <a:spLocks noGrp="1"/>
          </p:cNvSpPr>
          <p:nvPr>
            <p:ph type="sldNum" sz="quarter" idx="4294967295"/>
          </p:nvPr>
        </p:nvSpPr>
        <p:spPr>
          <a:xfrm>
            <a:off x="11259007" y="6156579"/>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1920240"/>
            <a:ext cx="10424160" cy="16459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altLang="en-US" sz="1800" dirty="0"/>
              <a:t>Existing methods, systems or alternatives:</a:t>
            </a:r>
            <a:endParaRPr lang="en-US" altLang="en-US" sz="1800" dirty="0"/>
          </a:p>
          <a:p>
            <a:pPr indent="0">
              <a:spcAft>
                <a:spcPts val="1000"/>
              </a:spcAft>
              <a:buClr>
                <a:schemeClr val="accent1"/>
              </a:buClr>
              <a:buSzPct val="100000"/>
              <a:buNone/>
            </a:pPr>
            <a:r>
              <a:rPr lang="en-US" altLang="en-US" sz="1800" dirty="0"/>
              <a:t>Manual sampling and periodic temperature checks</a:t>
            </a:r>
            <a:endParaRPr lang="en-US" altLang="en-US" sz="1800" dirty="0"/>
          </a:p>
          <a:p>
            <a:pPr indent="0">
              <a:spcAft>
                <a:spcPts val="1000"/>
              </a:spcAft>
              <a:buClr>
                <a:schemeClr val="accent1"/>
              </a:buClr>
              <a:buSzPct val="100000"/>
              <a:buNone/>
            </a:pPr>
            <a:r>
              <a:rPr lang="en-US" altLang="en-US" sz="1800" dirty="0"/>
              <a:t>PREVENTATIVE FUMIGATION (CHEMICAL TREATMENT) OF STORED GRAIN No matter the need:</a:t>
            </a:r>
            <a:endParaRPr lang="en-US" altLang="en-US" sz="1800" dirty="0"/>
          </a:p>
          <a:p>
            <a:pPr indent="0">
              <a:spcAft>
                <a:spcPts val="1000"/>
              </a:spcAft>
              <a:buClr>
                <a:schemeClr val="accent1"/>
              </a:buClr>
              <a:buSzPct val="100000"/>
              <a:buNone/>
            </a:pPr>
            <a:r>
              <a:rPr lang="en-US" altLang="en-US" sz="1800" dirty="0"/>
              <a:t>Visual inspection of grain surface</a:t>
            </a:r>
            <a:endParaRPr lang="en-US" altLang="en-US" sz="1800" dirty="0"/>
          </a:p>
          <a:p>
            <a:pPr marL="279400" indent="-279400">
              <a:spcAft>
                <a:spcPts val="1000"/>
              </a:spcAft>
              <a:buClr>
                <a:schemeClr val="accent1"/>
              </a:buClr>
              <a:buSzPct val="100000"/>
              <a:buChar char="•"/>
            </a:pPr>
            <a:r>
              <a:rPr lang="en-US" altLang="en-US" sz="1800" dirty="0"/>
              <a:t>Limitations of each:</a:t>
            </a:r>
            <a:endParaRPr lang="en-US" altLang="en-US" sz="1800" dirty="0"/>
          </a:p>
          <a:p>
            <a:pPr indent="0">
              <a:spcAft>
                <a:spcPts val="1000"/>
              </a:spcAft>
              <a:buClr>
                <a:schemeClr val="accent1"/>
              </a:buClr>
              <a:buSzPct val="100000"/>
              <a:buNone/>
            </a:pPr>
            <a:r>
              <a:rPr lang="en-US" altLang="en-US" sz="1800" dirty="0"/>
              <a:t>Point sensing cannot detect localised hotspots</a:t>
            </a:r>
            <a:endParaRPr lang="en-US" altLang="en-US" sz="1800" dirty="0"/>
          </a:p>
          <a:p>
            <a:pPr indent="0">
              <a:spcAft>
                <a:spcPts val="1000"/>
              </a:spcAft>
              <a:buClr>
                <a:schemeClr val="accent1"/>
              </a:buClr>
              <a:buSzPct val="100000"/>
              <a:buNone/>
            </a:pPr>
            <a:r>
              <a:rPr lang="en-US" altLang="en-US" sz="1800" dirty="0"/>
              <a:t>It can be detected only after it is too late</a:t>
            </a:r>
            <a:endParaRPr lang="en-US" altLang="en-US" sz="1800" dirty="0"/>
          </a:p>
          <a:p>
            <a:pPr indent="0">
              <a:spcAft>
                <a:spcPts val="1000"/>
              </a:spcAft>
              <a:buClr>
                <a:schemeClr val="accent1"/>
              </a:buClr>
              <a:buSzPct val="100000"/>
              <a:buNone/>
            </a:pPr>
            <a:r>
              <a:rPr lang="en-US" altLang="en-US" sz="1800" dirty="0"/>
              <a:t>Treating with fumigation is expensive and could potentially have unwanted consequences.</a:t>
            </a:r>
            <a:endParaRPr lang="en-US" altLang="en-US" sz="1800" dirty="0"/>
          </a:p>
          <a:p>
            <a:pPr marL="279400" indent="-279400">
              <a:spcAft>
                <a:spcPts val="1000"/>
              </a:spcAft>
              <a:buClr>
                <a:schemeClr val="accent1"/>
              </a:buClr>
              <a:buSzPct val="100000"/>
              <a:buChar char="•"/>
            </a:pPr>
            <a:r>
              <a:rPr lang="en-US" altLang="en-US" sz="1800" dirty="0"/>
              <a:t>The gap they leave open:</a:t>
            </a:r>
            <a:endParaRPr lang="en-US" altLang="en-US" sz="1800" dirty="0"/>
          </a:p>
          <a:p>
            <a:pPr indent="0">
              <a:spcAft>
                <a:spcPts val="1000"/>
              </a:spcAft>
              <a:buClr>
                <a:schemeClr val="accent1"/>
              </a:buClr>
              <a:buSzPct val="100000"/>
              <a:buNone/>
            </a:pPr>
            <a:r>
              <a:rPr lang="en-US" altLang="en-US" sz="1800" dirty="0"/>
              <a:t>Live environmental sensing system with predictive analytics has to be used if the first symptoms of spoilage are to be identified.</a:t>
            </a:r>
            <a:endParaRPr lang="en-US" alt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1859280"/>
            <a:ext cx="10424160" cy="16459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altLang="en-US" sz="1800" dirty="0"/>
              <a:t>Hardware Requirements:</a:t>
            </a:r>
            <a:endParaRPr lang="en-US" altLang="en-US" sz="1800" dirty="0"/>
          </a:p>
          <a:p>
            <a:pPr indent="0">
              <a:spcAft>
                <a:spcPts val="1000"/>
              </a:spcAft>
              <a:buClr>
                <a:schemeClr val="accent1"/>
              </a:buClr>
              <a:buSzPct val="100000"/>
              <a:buNone/>
            </a:pPr>
            <a:r>
              <a:rPr lang="en-US" altLang="en-US" sz="1800" dirty="0"/>
              <a:t>Nodes - Temperature, Humidity and CO2/VOC sensors</a:t>
            </a:r>
            <a:endParaRPr lang="en-US" altLang="en-US" sz="1800" dirty="0"/>
          </a:p>
          <a:p>
            <a:pPr indent="0">
              <a:spcAft>
                <a:spcPts val="1000"/>
              </a:spcAft>
              <a:buClr>
                <a:schemeClr val="accent1"/>
              </a:buClr>
              <a:buSzPct val="100000"/>
              <a:buNone/>
            </a:pPr>
            <a:r>
              <a:rPr lang="en-US" altLang="en-US" sz="1800" dirty="0"/>
              <a:t>Microcontroller x 1 (ESP32 or Arduino)</a:t>
            </a:r>
            <a:endParaRPr lang="en-US" altLang="en-US" sz="1800" dirty="0"/>
          </a:p>
          <a:p>
            <a:pPr indent="0">
              <a:spcAft>
                <a:spcPts val="1000"/>
              </a:spcAft>
              <a:buClr>
                <a:schemeClr val="accent1"/>
              </a:buClr>
              <a:buSzPct val="100000"/>
              <a:buNone/>
            </a:pPr>
            <a:r>
              <a:rPr lang="en-US" altLang="en-US" sz="1800" dirty="0"/>
              <a:t> Long range communication module (LoRa or WiFi)</a:t>
            </a:r>
            <a:endParaRPr lang="en-US" altLang="en-US" sz="1800" dirty="0"/>
          </a:p>
          <a:p>
            <a:pPr marL="279400" indent="-279400">
              <a:spcAft>
                <a:spcPts val="1000"/>
              </a:spcAft>
              <a:buClr>
                <a:schemeClr val="accent1"/>
              </a:buClr>
              <a:buSzPct val="100000"/>
              <a:buChar char="•"/>
            </a:pPr>
            <a:r>
              <a:rPr lang="en-US" altLang="en-US" sz="1800" dirty="0"/>
              <a:t>Software Requirements:</a:t>
            </a:r>
            <a:endParaRPr lang="en-US" altLang="en-US" sz="1800" dirty="0"/>
          </a:p>
          <a:p>
            <a:pPr indent="0">
              <a:spcAft>
                <a:spcPts val="1000"/>
              </a:spcAft>
              <a:buClr>
                <a:schemeClr val="accent1"/>
              </a:buClr>
              <a:buSzPct val="100000"/>
              <a:buNone/>
            </a:pPr>
            <a:r>
              <a:rPr lang="en-US" altLang="en-US" sz="1800" dirty="0"/>
              <a:t>IoT Cloud dashboard</a:t>
            </a:r>
            <a:endParaRPr lang="en-US" altLang="en-US" sz="1800" dirty="0"/>
          </a:p>
          <a:p>
            <a:pPr indent="0">
              <a:spcAft>
                <a:spcPts val="1000"/>
              </a:spcAft>
              <a:buClr>
                <a:schemeClr val="accent1"/>
              </a:buClr>
              <a:buSzPct val="100000"/>
              <a:buNone/>
            </a:pPr>
            <a:r>
              <a:rPr lang="en-US" altLang="en-US" sz="1800" dirty="0"/>
              <a:t>Email/SMS notification engine</a:t>
            </a:r>
            <a:endParaRPr lang="en-US" altLang="en-US" sz="1800" dirty="0"/>
          </a:p>
          <a:p>
            <a:pPr indent="0">
              <a:spcAft>
                <a:spcPts val="1000"/>
              </a:spcAft>
              <a:buClr>
                <a:schemeClr val="accent1"/>
              </a:buClr>
              <a:buSzPct val="100000"/>
              <a:buNone/>
            </a:pPr>
            <a:r>
              <a:rPr lang="en-US" altLang="en-US" sz="1800" dirty="0"/>
              <a:t>Analytics Engine - For predictive spoilage detection</a:t>
            </a:r>
            <a:endParaRPr lang="en-US" altLang="en-US" sz="1800" dirty="0"/>
          </a:p>
          <a:p>
            <a:pPr marL="279400" indent="-279400">
              <a:spcAft>
                <a:spcPts val="1000"/>
              </a:spcAft>
              <a:buClr>
                <a:schemeClr val="accent1"/>
              </a:buClr>
              <a:buSzPct val="100000"/>
              <a:buChar char="•"/>
            </a:pPr>
            <a:r>
              <a:rPr lang="en-US" altLang="en-US" sz="1800" dirty="0"/>
              <a:t>Other resources:</a:t>
            </a:r>
            <a:endParaRPr lang="en-US" altLang="en-US" sz="1800" dirty="0"/>
          </a:p>
          <a:p>
            <a:pPr indent="0">
              <a:spcAft>
                <a:spcPts val="1000"/>
              </a:spcAft>
              <a:buClr>
                <a:schemeClr val="accent1"/>
              </a:buClr>
              <a:buSzPct val="100000"/>
              <a:buNone/>
            </a:pPr>
            <a:r>
              <a:rPr lang="en-US" altLang="en-US" sz="1800" dirty="0"/>
              <a:t>Agricultural expertise to determine spoilage thresholds</a:t>
            </a:r>
            <a:endParaRPr lang="en-US" altLang="en-US" sz="1800" dirty="0"/>
          </a:p>
          <a:p>
            <a:pPr indent="0">
              <a:spcAft>
                <a:spcPts val="1000"/>
              </a:spcAft>
              <a:buClr>
                <a:schemeClr val="accent1"/>
              </a:buClr>
              <a:buSzPct val="100000"/>
              <a:buNone/>
            </a:pPr>
            <a:r>
              <a:rPr lang="en-US" altLang="en-US" sz="1800" dirty="0"/>
              <a:t> Prototype testing environment including stored grain samples</a:t>
            </a:r>
            <a:endParaRPr lang="en-US" altLang="en-US" sz="1800" dirty="0"/>
          </a:p>
          <a:p>
            <a:pPr marL="279400" indent="-279400">
              <a:spcAft>
                <a:spcPts val="1000"/>
              </a:spcAft>
              <a:buClr>
                <a:schemeClr val="accent1"/>
              </a:buClr>
              <a:buSzPct val="100000"/>
              <a:buChar char="•"/>
            </a:pPr>
            <a:endParaRPr lang="en-US" alt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altLang="en-US" sz="1800" dirty="0"/>
              <a:t>What your team intends to do:</a:t>
            </a:r>
            <a:endParaRPr lang="en-US" altLang="en-US" sz="1800" dirty="0"/>
          </a:p>
          <a:p>
            <a:pPr indent="0">
              <a:spcAft>
                <a:spcPts val="1000"/>
              </a:spcAft>
              <a:buClr>
                <a:schemeClr val="accent1"/>
              </a:buClr>
              <a:buSzPct val="100000"/>
              <a:buNone/>
            </a:pPr>
            <a:r>
              <a:rPr lang="en-US" altLang="en-US" sz="1800" dirty="0"/>
              <a:t>Create a grain IoT early warning system to track "grain storage health" using a sensor network distributed across the grain stockpile</a:t>
            </a:r>
            <a:endParaRPr lang="en-US" altLang="en-US" sz="1800" dirty="0"/>
          </a:p>
          <a:p>
            <a:pPr marL="279400" indent="-279400">
              <a:spcAft>
                <a:spcPts val="1000"/>
              </a:spcAft>
              <a:buClr>
                <a:schemeClr val="accent1"/>
              </a:buClr>
              <a:buSzPct val="100000"/>
              <a:buChar char="•"/>
            </a:pPr>
            <a:r>
              <a:rPr lang="en-US" altLang="en-US" sz="1800" dirty="0"/>
              <a:t>What you want to improve:</a:t>
            </a:r>
            <a:endParaRPr lang="en-US" altLang="en-US" sz="1800" dirty="0"/>
          </a:p>
          <a:p>
            <a:pPr indent="0">
              <a:spcAft>
                <a:spcPts val="1000"/>
              </a:spcAft>
              <a:buClr>
                <a:schemeClr val="accent1"/>
              </a:buClr>
              <a:buSzPct val="100000"/>
              <a:buNone/>
            </a:pPr>
            <a:r>
              <a:rPr lang="en-US" altLang="en-US" sz="1800" dirty="0"/>
              <a:t>Transform the "grains storage checks" paradigm from "manual reactive inspection leads to subsequent loss" to "predictive analysis and early warning to prevent loss".</a:t>
            </a:r>
            <a:endParaRPr lang="en-US" altLang="en-US" sz="1800" dirty="0"/>
          </a:p>
          <a:p>
            <a:pPr marL="279400" indent="-279400">
              <a:spcAft>
                <a:spcPts val="1000"/>
              </a:spcAft>
              <a:buClr>
                <a:schemeClr val="accent1"/>
              </a:buClr>
              <a:buSzPct val="100000"/>
              <a:buChar char="•"/>
            </a:pPr>
            <a:r>
              <a:rPr lang="en-US" altLang="en-US" sz="1800" dirty="0"/>
              <a:t>What successful improvement should achieve:</a:t>
            </a:r>
            <a:endParaRPr lang="en-US" altLang="en-US" sz="1800" dirty="0"/>
          </a:p>
          <a:p>
            <a:pPr indent="0">
              <a:spcAft>
                <a:spcPts val="1000"/>
              </a:spcAft>
              <a:buClr>
                <a:schemeClr val="accent1"/>
              </a:buClr>
              <a:buSzPct val="100000"/>
              <a:buNone/>
            </a:pPr>
            <a:r>
              <a:rPr lang="en-US" altLang="en-US" sz="1800" dirty="0"/>
              <a:t>Reduction in post-harvest loss of grain</a:t>
            </a:r>
            <a:endParaRPr lang="en-US" altLang="en-US" sz="1800" dirty="0"/>
          </a:p>
          <a:p>
            <a:pPr indent="0">
              <a:spcAft>
                <a:spcPts val="1000"/>
              </a:spcAft>
              <a:buClr>
                <a:schemeClr val="accent1"/>
              </a:buClr>
              <a:buSzPct val="100000"/>
              <a:buNone/>
            </a:pPr>
            <a:r>
              <a:rPr lang="en-US" altLang="en-US" sz="1800" dirty="0"/>
              <a:t>Get rid of the risk of avoidable expense of decay</a:t>
            </a:r>
            <a:endParaRPr lang="en-US" altLang="en-US" sz="1800" dirty="0"/>
          </a:p>
          <a:p>
            <a:pPr indent="0">
              <a:spcAft>
                <a:spcPts val="1000"/>
              </a:spcAft>
              <a:buClr>
                <a:schemeClr val="accent1"/>
              </a:buClr>
              <a:buSzPct val="100000"/>
              <a:buNone/>
            </a:pPr>
            <a:r>
              <a:rPr lang="en-US" altLang="en-US" sz="1800" dirty="0"/>
              <a:t>Ensuring Grain Quality through Real-Time Early Detection.</a:t>
            </a:r>
            <a:endParaRPr lang="en-US" alt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1"/>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2"/>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nvGraphicFramePr>
        <p:xfrm>
          <a:off x="548640" y="2194560"/>
          <a:ext cx="11094415" cy="3474720"/>
        </p:xfrm>
        <a:graphic>
          <a:graphicData uri="http://schemas.openxmlformats.org/drawingml/2006/table">
            <a:tbl>
              <a:tblPr/>
              <a:tblGrid>
                <a:gridCol w="3017520"/>
                <a:gridCol w="2560320"/>
                <a:gridCol w="5516575"/>
              </a:tblGrid>
              <a:tr h="548640">
                <a:tc>
                  <a:txBody>
                    <a:bodyPr/>
                    <a:lstStyle/>
                    <a:p>
                      <a:pPr marL="0" indent="0">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Team Member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Responsibility in Execution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1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2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3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4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5694</Words>
  <Application>WPS Presentation</Application>
  <PresentationFormat>On-screen Show (16:9)</PresentationFormat>
  <Paragraphs>189</Paragraphs>
  <Slides>9</Slides>
  <Notes>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SimSun</vt:lpstr>
      <vt:lpstr>Wingdings</vt:lpstr>
      <vt:lpstr>Calibri</vt:lpstr>
      <vt:lpstr>Cambria</vt:lpstr>
      <vt:lpstr>Cambria</vt:lpstr>
      <vt:lpstr>Cambria</vt:lpstr>
      <vt:lpstr>Calibri</vt:lpstr>
      <vt:lpstr>Calibri</vt:lpstr>
      <vt:lpstr>Calibri</vt:lpstr>
      <vt:lpstr>Microsoft YaHei</vt:lpstr>
      <vt:lpstr>Arial Unicode MS</vt:lpstr>
      <vt:lpstr>Genesis Ideathon</vt:lpstr>
      <vt:lpstr>PowerPoint 演示文稿</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creator>Genesis Ideathon</dc:creator>
  <dc:subject>PptxGenJS Presentation</dc:subject>
  <cp:lastModifiedBy>chandra hasan</cp:lastModifiedBy>
  <cp:revision>4</cp:revision>
  <dcterms:created xsi:type="dcterms:W3CDTF">2026-10-07T15:27:00Z</dcterms:created>
  <dcterms:modified xsi:type="dcterms:W3CDTF">2026-10-09T18:01:48Z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A3DC1497CBC94EA1A4400B8A85780626_13</vt:lpwstr>
  </property>
</Properties>
</file>